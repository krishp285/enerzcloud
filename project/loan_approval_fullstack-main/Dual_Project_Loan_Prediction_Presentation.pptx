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spcBef>
                <a:spcPts val="1200"/>
              </a:spcBef>
              <a:defRPr sz="1800">
                <a:solidFill>
                  <a:srgbClr val="E69600"/>
                </a:solidFill>
                <a:latin typeface="Arial"/>
              </a:defRPr>
            </a:pPr>
            <a:r>
              <a:t>Project 1: Loan Approval Prediction System | Project 2: Loan Default Prediction System</a:t>
            </a:r>
          </a:p>
          <a:p>
            <a:pPr>
              <a:spcBef>
                <a:spcPts val="2800"/>
              </a:spcBef>
              <a:defRPr sz="1400">
                <a:solidFill>
                  <a:srgbClr val="C8D2E1"/>
                </a:solidFill>
                <a:latin typeface="Arial"/>
              </a:defRPr>
            </a:pPr>
            <a:r>
              <a:t>Machine Learning Classification Pipelines, Continuous Probabilities &amp; Fullstack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Portfolio Strategic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PROJECT 1: LOAN APPROVAL SYSTEM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t>Fullstack ML application (4,269 records) using Random Forest (97.89% accuracy) deployed via FastAPI REST API and Streamlit Web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PROJECT 2: LOAN DEFAULT SYSTEM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t>Structured 4-Phase pipeline on loan-data.csv (614 records) covering Preprocessing, Imputation, EDA, Models &amp; Confusion Matrices.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PORTFOLIO SYNERGY</a:t>
            </a:r>
          </a:p>
          <a:p>
            <a:pPr>
              <a:spcBef>
                <a:spcPts val="1400"/>
              </a:spcBef>
              <a:defRPr sz="1200">
                <a:solidFill>
                  <a:srgbClr val="595959"/>
                </a:solidFill>
              </a:defRPr>
            </a:pPr>
            <a:r>
              <a:t>Combines high-capacity ensemble probabilities with lightweight baseline benchmarking for comprehensive underwriting coverage.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Project 1: Dataset &amp;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PROJECT 1 DATASET (4,269 RECORDS)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t>• Dataset: loan_approval_dataset.csv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t>• Target: loan_status (Approved = 1, Rejected = 0)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t>• Key Predictors: cibil_score, income_annum, loan_amount, loan_term, no_of_dependents</a:t>
            </a:r>
          </a:p>
          <a:p>
            <a:pPr>
              <a:spcBef>
                <a:spcPts val="1000"/>
              </a:spcBef>
              <a:defRPr sz="1200">
                <a:solidFill>
                  <a:srgbClr val="595959"/>
                </a:solidFill>
              </a:defRPr>
            </a:pPr>
            <a:r>
              <a:t>• Class Balance: 62.2% Approved vs 37.8% Rejected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COLLATERAL ASSET AGGREGATION</a:t>
            </a:r>
          </a:p>
          <a:p>
            <a:pPr>
              <a:spcBef>
                <a:spcPts val="1400"/>
              </a:spcBef>
              <a:defRPr b="1" sz="1000">
                <a:solidFill>
                  <a:srgbClr val="1F4E78"/>
                </a:solidFill>
                <a:latin typeface="Courier New"/>
              </a:defRPr>
            </a:pPr>
            <a:r>
              <a:t>total_assets_value = residential + commercial + luxury + bank_asset_value</a:t>
            </a:r>
          </a:p>
          <a:p>
            <a:pPr>
              <a:spcBef>
                <a:spcPts val="1600"/>
              </a:spcBef>
              <a:defRPr sz="1200">
                <a:solidFill>
                  <a:srgbClr val="595959"/>
                </a:solidFill>
              </a:defRPr>
            </a:pPr>
            <a:r>
              <a:t>Scaling: Applied StandardScaler to normalize input features for model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Project 1: Model Benchmarking &amp; Probabilities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Model Algorithm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92.24%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93.10%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92.66%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t>Decision Tree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98.34%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t>Random Forest Classifier (Chosen)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97.89%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97.61%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99.07%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98.33%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Project 1: Fullstack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28416" cy="347472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>
                <a:solidFill>
                  <a:srgbClr val="1F4E78"/>
                </a:solidFill>
              </a:defRPr>
            </a:pPr>
            <a:r>
              <a:t>STREAMLIT UI</a:t>
            </a:r>
          </a:p>
          <a:p>
            <a:pPr algn="ctr">
              <a:defRPr sz="1000">
                <a:solidFill>
                  <a:srgbClr val="E69600"/>
                </a:solidFill>
              </a:defRPr>
            </a:pPr>
            <a:r>
              <a:t>(frontend/streamlit_app.py)</a:t>
            </a:r>
          </a:p>
          <a:p>
            <a:br/>
            <a:pPr>
              <a:defRPr sz="1200">
                <a:solidFill>
                  <a:srgbClr val="595959"/>
                </a:solidFill>
              </a:defRPr>
            </a:pPr>
            <a:r>
              <a:t>• Input metrics form</a:t>
            </a:r>
            <a:br/>
            <a:r>
              <a:t>• Animated progress bar</a:t>
            </a:r>
            <a:br/>
            <a:r>
              <a:t>• Real-time decision display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2011680"/>
            <a:ext cx="3328416" cy="347472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>
                <a:solidFill>
                  <a:srgbClr val="1F4E78"/>
                </a:solidFill>
              </a:defRPr>
            </a:pPr>
            <a:r>
              <a:t>FASTAPI BACKEND</a:t>
            </a:r>
          </a:p>
          <a:p>
            <a:pPr algn="ctr">
              <a:defRPr sz="1000">
                <a:solidFill>
                  <a:srgbClr val="E69600"/>
                </a:solidFill>
              </a:defRPr>
            </a:pPr>
            <a:r>
              <a:t>(backend/app.py)</a:t>
            </a:r>
          </a:p>
          <a:p>
            <a:br/>
            <a:pPr>
              <a:defRPr sz="1200">
                <a:solidFill>
                  <a:srgbClr val="595959"/>
                </a:solidFill>
              </a:defRPr>
            </a:pPr>
            <a:r>
              <a:t>• POST /predict endpoint</a:t>
            </a:r>
            <a:br/>
            <a:r>
              <a:t>• Scales via scaler.pkl</a:t>
            </a:r>
            <a:br/>
            <a:r>
              <a:t>• Returns decimal &amp; % proba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2011680"/>
            <a:ext cx="3328416" cy="347472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>
                <a:solidFill>
                  <a:srgbClr val="1F4E78"/>
                </a:solidFill>
              </a:defRPr>
            </a:pPr>
            <a:r>
              <a:t>RANDOM FOREST MODEL</a:t>
            </a:r>
          </a:p>
          <a:p>
            <a:pPr algn="ctr">
              <a:defRPr sz="1000">
                <a:solidFill>
                  <a:srgbClr val="E69600"/>
                </a:solidFill>
              </a:defRPr>
            </a:pPr>
            <a:r>
              <a:t>(backend/model.pkl)</a:t>
            </a:r>
          </a:p>
          <a:p>
            <a:br/>
            <a:pPr>
              <a:defRPr sz="1200">
                <a:solidFill>
                  <a:srgbClr val="595959"/>
                </a:solidFill>
              </a:defRPr>
            </a:pPr>
            <a:r>
              <a:t>• 100 Estimator Ensemble</a:t>
            </a:r>
            <a:br/>
            <a:r>
              <a:t>• Evaluates 6 features</a:t>
            </a:r>
            <a:br/>
            <a:r>
              <a:t>• 97.89% Test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Project 2: Loan Default System (4-Phase Workflow)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PHASE 1: PREPROCESSING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Dropped Loan_ID. Imputed numerical missing values via median and categorical missing values via mode. Encoded categorical variables.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PHASE 2: EDA &amp; CORRELATIONS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Analyzed feature distributions (LoanAmount, ApplicantIncome) and calculated feature correlation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PHASE 3: MODEL BUILDING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Executed 80/20 train-test split. Trained Logistic Regression, Decision Tree, and Random Forest models with Confusion Matrices.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F4E78"/>
                </a:solidFill>
              </a:defRPr>
            </a:pPr>
            <a:r>
              <a:t>PHASE 4: MODEL COMPARISON</a:t>
            </a:r>
          </a:p>
          <a:p>
            <a:pPr>
              <a:defRPr sz="1100">
                <a:solidFill>
                  <a:srgbClr val="595959"/>
                </a:solidFill>
              </a:defRPr>
            </a:pPr>
            <a:r>
              <a:t>Constructed benchmark performance table comparing Accuracy, Precision, Recall, and F1-Score to select best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Project 2: Preprocessing &amp; Missing Value Imputation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IMPUTATION STRATEGY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t>• LoanAmount (22 missing): Filled with Median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t>• Loan_Amount_Term (14 missing): Filled with Median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t>• Credit_History (50 missing): Filled with Mode (1.0)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t>• Self_Employed (32 missing): Filled with Mode ('No')</a:t>
            </a:r>
          </a:p>
          <a:p>
            <a:pPr>
              <a:spcBef>
                <a:spcPts val="800"/>
              </a:spcBef>
              <a:defRPr sz="1200">
                <a:solidFill>
                  <a:srgbClr val="595959"/>
                </a:solidFill>
              </a:defRPr>
            </a:pPr>
            <a:r>
              <a:t>• Gender (13 missing) &amp; Married (3 missing): Mode Imputed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CATEGORICAL ENCODING MAPPING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Gender: Male=1, Female=0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Married: Yes=1, No=0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Education: Graduate=1, Not Graduate=0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Self_Employed: Yes=1, No=0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Dependents: 3+ converted to 3 (Integer)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Property_Area: Rural=0, Semiurban=1, Urban=2</a:t>
            </a:r>
          </a:p>
          <a:p>
            <a:pPr>
              <a:spcBef>
                <a:spcPts val="600"/>
              </a:spcBef>
              <a:defRPr sz="1100">
                <a:solidFill>
                  <a:srgbClr val="595959"/>
                </a:solidFill>
              </a:defRPr>
            </a:pPr>
            <a:r>
              <a:t>• Loan_Status (Target): Y=1, N=0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Project 2: Model Comparison &amp;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Model Algorithm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Confusion Matrix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>
                        <a:defRPr b="1"/>
                      </a:pPr>
                      <a:r>
                        <a:t>Logistic Regression (Chosen)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78.86%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75.96%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98.75%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85.87%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[[18, 25], [1, 79]]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t>Decision Tree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74.80%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82.49%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[[19, 24], [7, 73]]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t>Random Forest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77.24%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75.49%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96.25%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84.62%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[[18, 25], [3, 77]]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Cross-Project Metric Synthesis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97536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Project Identifier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Selected Model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Best Test Accuracy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Driver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algn="l"/>
                      <a:r>
                        <a:t>Project 1: Loan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4,269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97.89%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CIBIL Score &amp; Total Assets</a:t>
                      </a:r>
                    </a:p>
                  </a:txBody>
                  <a:tcPr/>
                </a:tc>
              </a:tr>
              <a:tr h="975360">
                <a:tc>
                  <a:txBody>
                    <a:bodyPr/>
                    <a:lstStyle/>
                    <a:p>
                      <a:pPr algn="l"/>
                      <a:r>
                        <a:t>Project 2: Loan 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614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78.86%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Credit History &amp; Property Area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9600"/>
                </a:solidFill>
                <a:latin typeface="Arial"/>
              </a:defRPr>
            </a:pPr>
            <a:r>
              <a:t>DUAL-PROJECT CREDIT RISK PORTFOLIO</a:t>
            </a:r>
          </a:p>
          <a:p>
            <a:pPr>
              <a:defRPr sz="2400" b="1">
                <a:solidFill>
                  <a:srgbClr val="1F4E78"/>
                </a:solidFill>
                <a:latin typeface="Arial"/>
              </a:defRPr>
            </a:pPr>
            <a:r>
              <a:t>Strategic 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2801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1. TIERED UNDERWRITING THRESHOLDS</a:t>
            </a:r>
          </a:p>
          <a:p>
            <a:pPr>
              <a:spcBef>
                <a:spcPts val="400"/>
              </a:spcBef>
              <a:defRPr sz="1200">
                <a:solidFill>
                  <a:srgbClr val="595959"/>
                </a:solidFill>
              </a:defRPr>
            </a:pPr>
            <a:r>
              <a:t>Auto-approve applications with probability &gt;= 80%; route 40%-79% to manual underwriters; auto-reject below 40%.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2. COLLATERAL &amp; CREDIT ALIGNMENT</a:t>
            </a:r>
          </a:p>
          <a:p>
            <a:pPr>
              <a:spcBef>
                <a:spcPts val="400"/>
              </a:spcBef>
              <a:defRPr sz="1200">
                <a:solidFill>
                  <a:srgbClr val="595959"/>
                </a:solidFill>
              </a:defRPr>
            </a:pPr>
            <a:r>
              <a:t>Require higher collateral asset coverage for applicants with borderline credit scores (550-650).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698480" cy="1280160"/>
          </a:xfrm>
          <a:prstGeom prst="roundRect">
            <a:avLst/>
          </a:prstGeom>
          <a:solidFill>
            <a:srgbClr val="F2F4F7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F4E78"/>
                </a:solidFill>
              </a:defRPr>
            </a:pPr>
            <a:r>
              <a:t>3. CONTINUOUS MODEL GOVERNANCE</a:t>
            </a:r>
          </a:p>
          <a:p>
            <a:pPr>
              <a:spcBef>
                <a:spcPts val="400"/>
              </a:spcBef>
              <a:defRPr sz="1200">
                <a:solidFill>
                  <a:srgbClr val="595959"/>
                </a:solidFill>
              </a:defRPr>
            </a:pPr>
            <a:r>
              <a:t>Schedule quarterly retraining cycles on new loan performance data to guard against macroeconomic concept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