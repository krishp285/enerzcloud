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 patel" userId="a316a0674c263f2f" providerId="LiveId" clId="{E00E6C66-8F23-4BF9-939F-E3FE35D1F7F7}"/>
    <pc:docChg chg="modSld">
      <pc:chgData name="krish patel" userId="a316a0674c263f2f" providerId="LiveId" clId="{E00E6C66-8F23-4BF9-939F-E3FE35D1F7F7}" dt="2026-08-30T11:00:39.533" v="9" actId="255"/>
      <pc:docMkLst>
        <pc:docMk/>
      </pc:docMkLst>
      <pc:sldChg chg="modSp mod">
        <pc:chgData name="krish patel" userId="a316a0674c263f2f" providerId="LiveId" clId="{E00E6C66-8F23-4BF9-939F-E3FE35D1F7F7}" dt="2026-08-30T10:59:51.627" v="1" actId="255"/>
        <pc:sldMkLst>
          <pc:docMk/>
          <pc:sldMk cId="0" sldId="256"/>
        </pc:sldMkLst>
        <pc:spChg chg="mod">
          <ac:chgData name="krish patel" userId="a316a0674c263f2f" providerId="LiveId" clId="{E00E6C66-8F23-4BF9-939F-E3FE35D1F7F7}" dt="2026-08-30T10:59:51.627" v="1" actId="255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0:59:57.035" v="2" actId="255"/>
        <pc:sldMkLst>
          <pc:docMk/>
          <pc:sldMk cId="0" sldId="257"/>
        </pc:sldMkLst>
        <pc:spChg chg="mod">
          <ac:chgData name="krish patel" userId="a316a0674c263f2f" providerId="LiveId" clId="{E00E6C66-8F23-4BF9-939F-E3FE35D1F7F7}" dt="2026-08-30T10:59:57.035" v="2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57.035" v="2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57.035" v="2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57.035" v="2" actId="255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1:00:02.320" v="3" actId="255"/>
        <pc:sldMkLst>
          <pc:docMk/>
          <pc:sldMk cId="0" sldId="258"/>
        </pc:sldMkLst>
        <pc:spChg chg="mod">
          <ac:chgData name="krish patel" userId="a316a0674c263f2f" providerId="LiveId" clId="{E00E6C66-8F23-4BF9-939F-E3FE35D1F7F7}" dt="2026-08-30T11:00:02.320" v="3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02.320" v="3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02.320" v="3" actId="255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1:00:07.814" v="4" actId="255"/>
        <pc:sldMkLst>
          <pc:docMk/>
          <pc:sldMk cId="0" sldId="259"/>
        </pc:sldMkLst>
        <pc:spChg chg="mod">
          <ac:chgData name="krish patel" userId="a316a0674c263f2f" providerId="LiveId" clId="{E00E6C66-8F23-4BF9-939F-E3FE35D1F7F7}" dt="2026-08-30T11:00:07.814" v="4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07.814" v="4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07.814" v="4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07.814" v="4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07.814" v="4" actId="255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1:00:13.206" v="5" actId="255"/>
        <pc:sldMkLst>
          <pc:docMk/>
          <pc:sldMk cId="0" sldId="260"/>
        </pc:sldMkLst>
        <pc:spChg chg="mod">
          <ac:chgData name="krish patel" userId="a316a0674c263f2f" providerId="LiveId" clId="{E00E6C66-8F23-4BF9-939F-E3FE35D1F7F7}" dt="2026-08-30T11:00:13.206" v="5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13.206" v="5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13.206" v="5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13.206" v="5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13.206" v="5" actId="255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1:00:21.638" v="6" actId="255"/>
        <pc:sldMkLst>
          <pc:docMk/>
          <pc:sldMk cId="0" sldId="261"/>
        </pc:sldMkLst>
        <pc:spChg chg="mod">
          <ac:chgData name="krish patel" userId="a316a0674c263f2f" providerId="LiveId" clId="{E00E6C66-8F23-4BF9-939F-E3FE35D1F7F7}" dt="2026-08-30T11:00:21.638" v="6" actId="255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1:00:28.024" v="7" actId="255"/>
        <pc:sldMkLst>
          <pc:docMk/>
          <pc:sldMk cId="0" sldId="262"/>
        </pc:sldMkLst>
        <pc:spChg chg="mod">
          <ac:chgData name="krish patel" userId="a316a0674c263f2f" providerId="LiveId" clId="{E00E6C66-8F23-4BF9-939F-E3FE35D1F7F7}" dt="2026-08-30T11:00:28.024" v="7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28.024" v="7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28.024" v="7" actId="255"/>
          <ac:spMkLst>
            <pc:docMk/>
            <pc:sldMk cId="0" sldId="262"/>
            <ac:spMk id="4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28.024" v="7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28.024" v="7" actId="255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1:00:34.050" v="8" actId="255"/>
        <pc:sldMkLst>
          <pc:docMk/>
          <pc:sldMk cId="0" sldId="263"/>
        </pc:sldMkLst>
        <pc:spChg chg="mod">
          <ac:chgData name="krish patel" userId="a316a0674c263f2f" providerId="LiveId" clId="{E00E6C66-8F23-4BF9-939F-E3FE35D1F7F7}" dt="2026-08-30T11:00:34.050" v="8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34.050" v="8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34.050" v="8" actId="255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1:00:39.533" v="9" actId="255"/>
        <pc:sldMkLst>
          <pc:docMk/>
          <pc:sldMk cId="0" sldId="264"/>
        </pc:sldMkLst>
        <pc:spChg chg="mod">
          <ac:chgData name="krish patel" userId="a316a0674c263f2f" providerId="LiveId" clId="{E00E6C66-8F23-4BF9-939F-E3FE35D1F7F7}" dt="2026-08-30T11:00:39.533" v="9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39.533" v="9" actId="255"/>
          <ac:spMkLst>
            <pc:docMk/>
            <pc:sldMk cId="0" sldId="264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39.533" v="9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39.533" v="9" actId="255"/>
          <ac:spMkLst>
            <pc:docMk/>
            <pc:sldMk cId="0" sldId="264"/>
            <ac:spMk id="5" creationId="{00000000-0000-0000-0000-000000000000}"/>
          </ac:spMkLst>
        </pc:spChg>
        <pc:spChg chg="mod">
          <ac:chgData name="krish patel" userId="a316a0674c263f2f" providerId="LiveId" clId="{E00E6C66-8F23-4BF9-939F-E3FE35D1F7F7}" dt="2026-08-30T11:00:39.533" v="9" actId="255"/>
          <ac:spMkLst>
            <pc:docMk/>
            <pc:sldMk cId="0" sldId="264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rPr sz="3000" dirty="0"/>
              <a:t>LOAN DEFAULT PREDICTION SYSTEM</a:t>
            </a:r>
          </a:p>
          <a:p>
            <a:pPr>
              <a:spcBef>
                <a:spcPts val="1200"/>
              </a:spcBef>
              <a:defRPr sz="1500">
                <a:solidFill>
                  <a:srgbClr val="E69600"/>
                </a:solidFill>
                <a:latin typeface="Arial"/>
              </a:defRPr>
            </a:pPr>
            <a:r>
              <a:rPr sz="3000" dirty="0"/>
              <a:t>4-Phase ML Pipeline  +  </a:t>
            </a:r>
            <a:r>
              <a:rPr sz="3000" dirty="0" err="1"/>
              <a:t>Streamlit</a:t>
            </a:r>
            <a:r>
              <a:rPr sz="3000" dirty="0"/>
              <a:t> Web UI  ·  614 Records  ·  loan-data.csv</a:t>
            </a:r>
          </a:p>
          <a:p>
            <a:pPr>
              <a:spcBef>
                <a:spcPts val="2400"/>
              </a:spcBef>
              <a:defRPr sz="1300">
                <a:solidFill>
                  <a:srgbClr val="DCB4B4"/>
                </a:solidFill>
                <a:latin typeface="Arial"/>
              </a:defRPr>
            </a:pPr>
            <a:r>
              <a:rPr sz="3000" dirty="0"/>
              <a:t>Logistic Regression  ·  78.86% Accuracy  ·  98.75% Recall  ·  85.87% F1-Score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2: LOAN DEFAULT PREDICTION SYSTEM</a:t>
            </a:r>
          </a:p>
          <a:p>
            <a:pPr>
              <a:defRPr sz="2400" b="1">
                <a:solidFill>
                  <a:srgbClr val="9B2423"/>
                </a:solidFill>
                <a:latin typeface="Arial"/>
              </a:defRPr>
            </a:pPr>
            <a:r>
              <a:rPr sz="2000"/>
              <a:t>Problem Statement &amp; Project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28416" cy="47548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BUSINESS PROBLEM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Loan defaults create NPAs. Identifying likely defaulters before disbursement prevents financial losses and enables proactive risk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417320"/>
            <a:ext cx="3328416" cy="47548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ML OBJECTIVE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Binary classification: Predict Loan_Status (Y=Repay, N=Default) from 12 financial and demographic features using a 4-phase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417320"/>
            <a:ext cx="3328416" cy="47548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SYSTEM DESIGN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Task.py pipeline trains and exports model.pkl + scaler.pkl. App.py loads these for real-time Streamlit UI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2: LOAN DEFAULT PREDICTION SYSTEM</a:t>
            </a:r>
          </a:p>
          <a:p>
            <a:pPr>
              <a:defRPr sz="2400" b="1">
                <a:solidFill>
                  <a:srgbClr val="9B2423"/>
                </a:solidFill>
                <a:latin typeface="Arial"/>
              </a:defRPr>
            </a:pPr>
            <a:r>
              <a:rPr sz="2000"/>
              <a:t>Dataset Overview — loan-data.csv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B2423"/>
                </a:solidFill>
              </a:defRPr>
            </a:pPr>
            <a:r>
              <a:rPr sz="2000"/>
              <a:t>DATASET PROFILE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Records: 614 customer loan applications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Columns: 13 (12 features + Loan_Status target)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Class Split: 68.7% Approved / 31.3% Rejected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Train / Test: 80% / 20% (random_state=42)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Missing Values: 7 columns with missing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B2423"/>
                </a:solidFill>
              </a:defRPr>
            </a:pPr>
            <a:r>
              <a:rPr sz="2000"/>
              <a:t>MISSING VALUE IMPUTATION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rPr sz="2000"/>
              <a:t>• Credit_History: 50 (8.1%) → Mode imputed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rPr sz="2000"/>
              <a:t>• Self_Employed: 32 (5.2%) → Mode imputed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rPr sz="2000"/>
              <a:t>• Dependents: 15 (2.4%) → Mode imputed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rPr sz="2000"/>
              <a:t>• LoanAmount: 22 (3.6%) → Median imputed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rPr sz="2000"/>
              <a:t>• Loan_Amount_Term: 14 → Median imputed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rPr sz="2000"/>
              <a:t>• Gender: 13 → Mode imputed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rPr sz="2000"/>
              <a:t>• Married: 3 → Mode imputed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2: LOAN DEFAULT PREDICTION SYSTEM</a:t>
            </a:r>
          </a:p>
          <a:p>
            <a:pPr>
              <a:defRPr sz="2400" b="1">
                <a:solidFill>
                  <a:srgbClr val="9B2423"/>
                </a:solidFill>
                <a:latin typeface="Arial"/>
              </a:defRPr>
            </a:pPr>
            <a:r>
              <a:rPr sz="2000"/>
              <a:t>Phase 1 — Data 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0972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STEP 1: REMOVE Loan_ID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Dropped non-predictive unique identifier to prevent data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698480" cy="10972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STEP 2: IMPUTE Missing Values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Median for numerical (LoanAmount, Loan_Amount_Term). Mode for categorical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9080"/>
            <a:ext cx="10698480" cy="10972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STEP 3: ENCODE Categorical Features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Binary: Gender, Married, Education, Self_Employed. Ordinal: Dependents (3+→3), Property_Area (0/1/2). Target: Y=1, N=0.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59"/>
            <a:ext cx="10698480" cy="10972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STEP 4: SCALE &amp; SPLIT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StandardScaler on all 11 predictors. 80/20 train-test split, random_state=42.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2: LOAN DEFAULT PREDICTION SYSTEM</a:t>
            </a:r>
          </a:p>
          <a:p>
            <a:pPr>
              <a:defRPr sz="2400" b="1">
                <a:solidFill>
                  <a:srgbClr val="9B2423"/>
                </a:solidFill>
                <a:latin typeface="Arial"/>
              </a:defRPr>
            </a:pPr>
            <a:r>
              <a:rPr sz="2000"/>
              <a:t>Phase 2 — Exploratory Data Analysis (EDA)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0972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CREDIT HISTORY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Strongest binary predictor — Credit_History=1 correlates with &gt;80% approval 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698480" cy="10972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PROPERTY AREA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Semiurban &gt; Urban &gt; Rural in approval rates. Captures regional economic risk exposure.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9080"/>
            <a:ext cx="10698480" cy="10972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APPLICANT INCOME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Moderate positive correlation with approval. Income alone is not decisive.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59"/>
            <a:ext cx="10698480" cy="10972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LOAN AMOUNT (Right-Skewed)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Validates median imputation strategy — mean would overestimate typical loan sizes.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2: LOAN DEFAULT PREDICTION SYSTEM</a:t>
            </a:r>
          </a:p>
          <a:p>
            <a:pPr>
              <a:defRPr sz="2400" b="1">
                <a:solidFill>
                  <a:srgbClr val="9B2423"/>
                </a:solidFill>
                <a:latin typeface="Arial"/>
              </a:defRPr>
            </a:pPr>
            <a:r>
              <a:rPr sz="2000"/>
              <a:t>Phase 3 &amp; 4 — Model Benchmark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Model Algorithm</a:t>
                      </a:r>
                    </a:p>
                  </a:txBody>
                  <a:tcPr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Confusion Matrix</a:t>
                      </a:r>
                    </a:p>
                  </a:txBody>
                  <a:tcPr>
                    <a:solidFill>
                      <a:srgbClr val="9B2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b="1"/>
                      </a:pPr>
                      <a:r>
                        <a:t>Logistic Regression (Chosen)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78.86%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75.96%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98.75%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85.87%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[[18,25],[1,79]]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t>Decision Tree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74.80%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75.26%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82.49%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[[19,24],[7,73]]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t>Random Forest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77.24%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75.49%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96.25%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84.62%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[[18,25],[3,77]]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2: LOAN DEFAULT PREDICTION SYSTEM</a:t>
            </a:r>
          </a:p>
          <a:p>
            <a:pPr>
              <a:defRPr sz="2400" b="1">
                <a:solidFill>
                  <a:srgbClr val="9B2423"/>
                </a:solidFill>
                <a:latin typeface="Arial"/>
              </a:defRPr>
            </a:pPr>
            <a:r>
              <a:rPr sz="2000"/>
              <a:t>Confusion Matrix Analysis — Why Recall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B2423"/>
                </a:solidFill>
              </a:defRPr>
            </a:pPr>
            <a:r>
              <a:rPr sz="2000"/>
              <a:t>TRUE POSITIVES: 79</a:t>
            </a:r>
          </a:p>
          <a:p>
            <a:pPr>
              <a:spcBef>
                <a:spcPts val="10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79 actual repayers correctly predicted → Loan approved. Bank earns interest.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210312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B2423"/>
                </a:solidFill>
              </a:defRPr>
            </a:pPr>
            <a:r>
              <a:rPr sz="2000"/>
              <a:t>FALSE NEGATIVES: 1</a:t>
            </a:r>
          </a:p>
          <a:p>
            <a:pPr>
              <a:spcBef>
                <a:spcPts val="10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Only 1 defaulter missed — near-zero NPA risk from the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B2423"/>
                </a:solidFill>
              </a:defRPr>
            </a:pPr>
            <a:r>
              <a:rPr sz="2000"/>
              <a:t>FALSE POSITIVES: 25</a:t>
            </a:r>
          </a:p>
          <a:p>
            <a:pPr>
              <a:spcBef>
                <a:spcPts val="10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25 good applicants denied — revenue loss but bank fully protected.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120640" cy="210312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B2423"/>
                </a:solidFill>
              </a:defRPr>
            </a:pPr>
            <a:r>
              <a:rPr sz="2000"/>
              <a:t>TRUE NEGATIVES: 18</a:t>
            </a:r>
          </a:p>
          <a:p>
            <a:pPr>
              <a:spcBef>
                <a:spcPts val="10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18 defaulters correctly denied → NPA prevented.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2: LOAN DEFAULT PREDICTION SYSTEM</a:t>
            </a:r>
          </a:p>
          <a:p>
            <a:pPr>
              <a:defRPr sz="2400" b="1">
                <a:solidFill>
                  <a:srgbClr val="9B2423"/>
                </a:solidFill>
                <a:latin typeface="Arial"/>
              </a:defRPr>
            </a:pPr>
            <a:r>
              <a:rPr sz="2000"/>
              <a:t>Streamlit Interactive Web UI (app.py)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B2423"/>
                </a:solidFill>
              </a:defRPr>
            </a:pPr>
            <a:r>
              <a:rPr sz="2000"/>
              <a:t>INPUT FORM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Gender, Married, Dependents (dropdowns)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Education, Self_Employed (dropdowns)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ApplicantIncome, CoapplicantIncome (number inputs)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LoanAmount, Loan_Amount_Term, Credit_History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Property_Area (Rural / Semiurban / Urban)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B2423"/>
                </a:solidFill>
              </a:defRPr>
            </a:pPr>
            <a:r>
              <a:rPr sz="2000"/>
              <a:t>OUTPUT PANEL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Color-coded result card (Repaid / Default Risk)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Repayment Probability progress bar (0–100%)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Default Probability progress bar (0–100%)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Tier 1 (Low) / Tier 2 (Moderate) / Tier 3 (High) risk badge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Raw probability expander for audit logs</a:t>
            </a:r>
          </a:p>
          <a:p>
            <a:pPr>
              <a:spcBef>
                <a:spcPts val="7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Run: streamlit run app.py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2: LOAN DEFAULT PREDICTION SYSTEM</a:t>
            </a:r>
          </a:p>
          <a:p>
            <a:pPr>
              <a:defRPr sz="2400" b="1">
                <a:solidFill>
                  <a:srgbClr val="9B2423"/>
                </a:solidFill>
                <a:latin typeface="Arial"/>
              </a:defRPr>
            </a:pPr>
            <a:r>
              <a:rPr sz="2000"/>
              <a:t>Business Recommendations &amp; Risk Policy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MAXIMIZE RECALL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In default prediction, missing a defaulter is far more costly — prioritize high-recall models over pure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61488"/>
            <a:ext cx="10698480" cy="105156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CREDIT HISTORY ENFORCEMENT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Mandate credit documentation for all applicants — 50 missing entries (8.1%) create dangerous scoring blind spots.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59935"/>
            <a:ext cx="10698480" cy="105156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SEMIURBAN INCENTIVES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Semiurban applicants have the highest repayment rates — offer preferential interest rate tiers for this segment.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58383"/>
            <a:ext cx="10698480" cy="1051560"/>
          </a:xfrm>
          <a:prstGeom prst="roundRect">
            <a:avLst/>
          </a:prstGeom>
          <a:solidFill>
            <a:srgbClr val="FDECEA"/>
          </a:solidFill>
          <a:ln>
            <a:solidFill>
              <a:srgbClr val="9B2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B2423"/>
                </a:solidFill>
              </a:defRPr>
            </a:pPr>
            <a:r>
              <a:rPr sz="2000"/>
              <a:t>DEPLOY STREAMLIT UI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Roll out app.py on Streamlit Cloud or corporate intranet for branch-level officer access to instant default risk scores.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842</Words>
  <Application>Microsoft Office PowerPoint</Application>
  <PresentationFormat>Widescreen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 patel</cp:lastModifiedBy>
  <cp:revision>1</cp:revision>
  <dcterms:created xsi:type="dcterms:W3CDTF">2013-01-27T09:14:16Z</dcterms:created>
  <dcterms:modified xsi:type="dcterms:W3CDTF">2026-08-30T11:00:39Z</dcterms:modified>
  <cp:category/>
</cp:coreProperties>
</file>