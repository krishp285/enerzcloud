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4" d="100"/>
          <a:sy n="54" d="100"/>
        </p:scale>
        <p:origin x="1781" y="5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patel" userId="a316a0674c263f2f" providerId="LiveId" clId="{E00E6C66-8F23-4BF9-939F-E3FE35D1F7F7}"/>
    <pc:docChg chg="modSld">
      <pc:chgData name="krish patel" userId="a316a0674c263f2f" providerId="LiveId" clId="{E00E6C66-8F23-4BF9-939F-E3FE35D1F7F7}" dt="2026-08-30T10:59:28.345" v="7" actId="255"/>
      <pc:docMkLst>
        <pc:docMk/>
      </pc:docMkLst>
      <pc:sldChg chg="modSp mod">
        <pc:chgData name="krish patel" userId="a316a0674c263f2f" providerId="LiveId" clId="{E00E6C66-8F23-4BF9-939F-E3FE35D1F7F7}" dt="2026-08-30T10:57:57.202" v="0" actId="255"/>
        <pc:sldMkLst>
          <pc:docMk/>
          <pc:sldMk cId="0" sldId="256"/>
        </pc:sldMkLst>
        <pc:spChg chg="mod">
          <ac:chgData name="krish patel" userId="a316a0674c263f2f" providerId="LiveId" clId="{E00E6C66-8F23-4BF9-939F-E3FE35D1F7F7}" dt="2026-08-30T10:57:57.202" v="0" actId="25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0:58:47.370" v="2" actId="255"/>
        <pc:sldMkLst>
          <pc:docMk/>
          <pc:sldMk cId="0" sldId="257"/>
        </pc:sldMkLst>
        <pc:spChg chg="mod">
          <ac:chgData name="krish patel" userId="a316a0674c263f2f" providerId="LiveId" clId="{E00E6C66-8F23-4BF9-939F-E3FE35D1F7F7}" dt="2026-08-30T10:58:47.370" v="2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8:47.370" v="2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8:47.370" v="2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8:47.370" v="2" actId="255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0:58:54.559" v="3" actId="255"/>
        <pc:sldMkLst>
          <pc:docMk/>
          <pc:sldMk cId="0" sldId="258"/>
        </pc:sldMkLst>
        <pc:spChg chg="mod">
          <ac:chgData name="krish patel" userId="a316a0674c263f2f" providerId="LiveId" clId="{E00E6C66-8F23-4BF9-939F-E3FE35D1F7F7}" dt="2026-08-30T10:58:54.559" v="3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8:54.559" v="3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8:54.559" v="3" actId="255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0:59:05.142" v="4" actId="255"/>
        <pc:sldMkLst>
          <pc:docMk/>
          <pc:sldMk cId="0" sldId="260"/>
        </pc:sldMkLst>
        <pc:spChg chg="mod">
          <ac:chgData name="krish patel" userId="a316a0674c263f2f" providerId="LiveId" clId="{E00E6C66-8F23-4BF9-939F-E3FE35D1F7F7}" dt="2026-08-30T10:59:05.142" v="4" actId="255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0:59:13.546" v="5" actId="255"/>
        <pc:sldMkLst>
          <pc:docMk/>
          <pc:sldMk cId="0" sldId="261"/>
        </pc:sldMkLst>
        <pc:spChg chg="mod">
          <ac:chgData name="krish patel" userId="a316a0674c263f2f" providerId="LiveId" clId="{E00E6C66-8F23-4BF9-939F-E3FE35D1F7F7}" dt="2026-08-30T10:59:13.546" v="5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13.546" v="5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13.546" v="5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13.546" v="5" actId="255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0:59:20.826" v="6" actId="255"/>
        <pc:sldMkLst>
          <pc:docMk/>
          <pc:sldMk cId="0" sldId="262"/>
        </pc:sldMkLst>
        <pc:spChg chg="mod">
          <ac:chgData name="krish patel" userId="a316a0674c263f2f" providerId="LiveId" clId="{E00E6C66-8F23-4BF9-939F-E3FE35D1F7F7}" dt="2026-08-30T10:59:20.826" v="6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20.826" v="6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20.826" v="6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20.826" v="6" actId="255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krish patel" userId="a316a0674c263f2f" providerId="LiveId" clId="{E00E6C66-8F23-4BF9-939F-E3FE35D1F7F7}" dt="2026-08-30T10:59:28.345" v="7" actId="255"/>
        <pc:sldMkLst>
          <pc:docMk/>
          <pc:sldMk cId="0" sldId="263"/>
        </pc:sldMkLst>
        <pc:spChg chg="mod">
          <ac:chgData name="krish patel" userId="a316a0674c263f2f" providerId="LiveId" clId="{E00E6C66-8F23-4BF9-939F-E3FE35D1F7F7}" dt="2026-08-30T10:59:28.345" v="7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28.345" v="7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28.345" v="7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28.345" v="7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krish patel" userId="a316a0674c263f2f" providerId="LiveId" clId="{E00E6C66-8F23-4BF9-939F-E3FE35D1F7F7}" dt="2026-08-30T10:59:28.345" v="7" actId="255"/>
          <ac:spMkLst>
            <pc:docMk/>
            <pc:sldMk cId="0" sldId="263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rPr sz="3000" dirty="0"/>
              <a:t>LOAN APPROVAL PREDICTION SYSTEM</a:t>
            </a:r>
          </a:p>
          <a:p>
            <a:pPr>
              <a:spcBef>
                <a:spcPts val="1200"/>
              </a:spcBef>
              <a:defRPr sz="1600">
                <a:solidFill>
                  <a:srgbClr val="E69600"/>
                </a:solidFill>
                <a:latin typeface="Arial"/>
              </a:defRPr>
            </a:pPr>
            <a:r>
              <a:rPr sz="3000" dirty="0"/>
              <a:t>Automated Credit Risk Classification  ·  </a:t>
            </a:r>
            <a:r>
              <a:rPr sz="3000" dirty="0" err="1"/>
              <a:t>FastAPI</a:t>
            </a:r>
            <a:r>
              <a:rPr sz="3000" dirty="0"/>
              <a:t> REST  ·  </a:t>
            </a:r>
            <a:r>
              <a:rPr sz="3000" dirty="0" err="1"/>
              <a:t>Streamlit</a:t>
            </a:r>
            <a:r>
              <a:rPr sz="3000" dirty="0"/>
              <a:t> Web UI</a:t>
            </a:r>
          </a:p>
          <a:p>
            <a:pPr>
              <a:spcBef>
                <a:spcPts val="2400"/>
              </a:spcBef>
              <a:defRPr sz="1300">
                <a:solidFill>
                  <a:srgbClr val="BED2E6"/>
                </a:solidFill>
                <a:latin typeface="Arial"/>
              </a:defRPr>
            </a:pPr>
            <a:r>
              <a:rPr sz="3000" dirty="0"/>
              <a:t>Random Forest Classifier  ·  97.89% Accuracy  ·  Continuous Probability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1: LOAN APPROVAL PREDICTION SYSTEM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rPr sz="2000"/>
              <a:t>Project Overview &amp; Business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BUSINESS PROBLEM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Manual loan underwriting is slow, inconsistent, and exposes lenders to avoidable credit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17320"/>
            <a:ext cx="3328416" cy="47548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ML SOLUTION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Random Forest trained on 4,269 records delivers real-time decisions with calibrated probability scores.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17320"/>
            <a:ext cx="3328416" cy="47548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DEPLOYMENT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FastAPI REST backend + Streamlit interactive dashboard serving predictions from any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1: LOAN APPROVAL PREDICTION SYSTEM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rPr sz="2000"/>
              <a:t>Dataset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rPr sz="2000" dirty="0"/>
              <a:t>DATASET PROFILE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 dirty="0"/>
              <a:t>• loan_approval_dataset.csv  ·  4,269 records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 dirty="0"/>
              <a:t>• Zero missing values (clean dataset)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 dirty="0"/>
              <a:t>• Class: 62.2% Approved / 37.8% Rejected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rPr sz="2000" dirty="0"/>
              <a:t>• Train 80% / Test 20% (</a:t>
            </a:r>
            <a:r>
              <a:rPr sz="2000" dirty="0" err="1"/>
              <a:t>random_state</a:t>
            </a:r>
            <a:r>
              <a:rPr sz="2000" dirty="0"/>
              <a:t>=42)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rPr sz="2000"/>
              <a:t>ASSET AGGREGATION FORMULA</a:t>
            </a:r>
          </a:p>
          <a:p>
            <a:pPr>
              <a:spcBef>
                <a:spcPts val="1200"/>
              </a:spcBef>
              <a:defRPr sz="1100" b="1">
                <a:solidFill>
                  <a:srgbClr val="1F4E78"/>
                </a:solidFill>
                <a:latin typeface="Courier New"/>
              </a:defRPr>
            </a:pPr>
            <a:r>
              <a:rPr sz="2000"/>
              <a:t>total_assets_value =</a:t>
            </a:r>
            <a:br>
              <a:rPr sz="2000"/>
            </a:br>
            <a:r>
              <a:rPr sz="2000"/>
              <a:t>residential + commercial</a:t>
            </a:r>
            <a:br>
              <a:rPr sz="2000"/>
            </a:br>
            <a:r>
              <a:rPr sz="2000"/>
              <a:t>+ luxury + bank_asset_value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6 final predictor features used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• StandardScaler normalization applied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t>PROJECT 1: LOAN APPROVAL PREDICTION SYSTEM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Exploratory Data Analysis — 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t>CIBIL SCORE THRESHOLD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Applications with CIBIL &gt; 650 carry &gt;92% approval rate — single strongest predictor.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t>ASSET COVERAGE RATIO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total_assets / loan_amount &gt; 1.25x correlates with 95%+ approval probability.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106984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t>INCOME-TO-LOAN RATIO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Higher income relative to loan amount is a strong positive approval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59"/>
            <a:ext cx="106984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t>CLASS BALANCE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62.2% Approved vs 37.8% Rejected — model evaluated by Precision, Recall, F1.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 dirty="0"/>
              <a:t>PROJECT 1: LOAN APPROVAL PREDICTION SYSTEM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rPr sz="2000" dirty="0"/>
              <a:t>Model Benchmarking — 3-Algorithm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Model Algorithm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92.24%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93.10%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92.66%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t>Decision Tree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97.89%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98.34%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t>Random Forest (Chosen)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97.89%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97.61%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99.07%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98.33%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1: LOAN APPROVAL PREDICTION SYSTEM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rPr sz="2000"/>
              <a:t>Continuous Probability Risk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WHY PROBABILITIES?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Binary 0/1 decisions discard risk magnitude. Continuous probabilities enable tiered decisioning and portfolio risk stratification.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HOW IT WORKS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Random Forest aggregates 100 decision tree votes. Fraction voting 'Approved' is returned as approval_probability (e.g. 0.6109 = 61.09%).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RISK TIERS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rPr sz="2000"/>
              <a:t>Tier 1: &gt;= 80%  Auto-Approve</a:t>
            </a:r>
            <a:br>
              <a:rPr sz="2000"/>
            </a:br>
            <a:r>
              <a:rPr sz="2000"/>
              <a:t>Tier 2: 40–79%  Manual Review</a:t>
            </a:r>
            <a:br>
              <a:rPr sz="2000"/>
            </a:br>
            <a:r>
              <a:rPr sz="2000"/>
              <a:t>Tier 3: &lt; 40%   Auto-Reject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1: LOAN APPROVAL PREDICTION SYSTEM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rPr sz="2000"/>
              <a:t>Fullstack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 dirty="0"/>
              <a:t>STREAMLIT UI</a:t>
            </a:r>
          </a:p>
          <a:p>
            <a:pPr algn="ctr">
              <a:defRPr sz="1000">
                <a:solidFill>
                  <a:srgbClr val="E69600"/>
                </a:solidFill>
              </a:defRPr>
            </a:pPr>
            <a:r>
              <a:rPr sz="2000" dirty="0"/>
              <a:t>frontend/streamlit_app.py</a:t>
            </a:r>
          </a:p>
          <a:p>
            <a:br>
              <a:rPr sz="2000" dirty="0"/>
            </a:br>
            <a:r>
              <a:rPr sz="2000" dirty="0">
                <a:solidFill>
                  <a:srgbClr val="FF0000"/>
                </a:solidFill>
              </a:rPr>
              <a:t>• 6-feature input sliders</a:t>
            </a:r>
            <a:br>
              <a:rPr sz="2000" dirty="0">
                <a:solidFill>
                  <a:srgbClr val="FF0000"/>
                </a:solidFill>
              </a:rPr>
            </a:br>
            <a:r>
              <a:rPr sz="2000" dirty="0">
                <a:solidFill>
                  <a:srgbClr val="FF0000"/>
                </a:solidFill>
              </a:rPr>
              <a:t>• Animated progress bar</a:t>
            </a:r>
            <a:br>
              <a:rPr sz="2000" dirty="0">
                <a:solidFill>
                  <a:srgbClr val="FF0000"/>
                </a:solidFill>
              </a:rPr>
            </a:br>
            <a:r>
              <a:rPr sz="2000" dirty="0">
                <a:solidFill>
                  <a:srgbClr val="FF0000"/>
                </a:solidFill>
              </a:rPr>
              <a:t>• Color-coded Approved/Rejected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 dirty="0"/>
              <a:t>FASTAPI BACKEND</a:t>
            </a:r>
          </a:p>
          <a:p>
            <a:pPr algn="ctr">
              <a:defRPr sz="1000">
                <a:solidFill>
                  <a:srgbClr val="E69600"/>
                </a:solidFill>
              </a:defRPr>
            </a:pPr>
            <a:r>
              <a:rPr sz="2000" dirty="0"/>
              <a:t>backend/app.py  POST /predict</a:t>
            </a:r>
          </a:p>
          <a:p>
            <a:br>
              <a:rPr sz="2000" dirty="0"/>
            </a:br>
            <a:r>
              <a:rPr sz="2000" dirty="0">
                <a:solidFill>
                  <a:srgbClr val="FF0000"/>
                </a:solidFill>
              </a:rPr>
              <a:t>• Scales input via </a:t>
            </a:r>
            <a:r>
              <a:rPr sz="2000" dirty="0" err="1">
                <a:solidFill>
                  <a:srgbClr val="FF0000"/>
                </a:solidFill>
              </a:rPr>
              <a:t>scaler.pkl</a:t>
            </a:r>
            <a:br>
              <a:rPr sz="2000" dirty="0">
                <a:solidFill>
                  <a:srgbClr val="FF0000"/>
                </a:solidFill>
              </a:rPr>
            </a:br>
            <a:r>
              <a:rPr sz="2000" dirty="0">
                <a:solidFill>
                  <a:srgbClr val="FF0000"/>
                </a:solidFill>
              </a:rPr>
              <a:t>• Returns decimal &amp; % probability</a:t>
            </a:r>
            <a:br>
              <a:rPr sz="2000" dirty="0">
                <a:solidFill>
                  <a:srgbClr val="FF0000"/>
                </a:solidFill>
              </a:rPr>
            </a:br>
            <a:r>
              <a:rPr sz="2000" dirty="0">
                <a:solidFill>
                  <a:srgbClr val="FF0000"/>
                </a:solidFill>
              </a:rPr>
              <a:t>• JSON response with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 dirty="0"/>
              <a:t>RANDOM FOREST MODEL</a:t>
            </a:r>
          </a:p>
          <a:p>
            <a:pPr algn="ctr">
              <a:defRPr sz="1000">
                <a:solidFill>
                  <a:srgbClr val="E69600"/>
                </a:solidFill>
              </a:defRPr>
            </a:pPr>
            <a:r>
              <a:rPr sz="2000" dirty="0"/>
              <a:t>backend/</a:t>
            </a:r>
            <a:r>
              <a:rPr sz="2000" dirty="0" err="1"/>
              <a:t>model.pkl</a:t>
            </a:r>
            <a:endParaRPr sz="2000" dirty="0"/>
          </a:p>
          <a:p>
            <a:br>
              <a:rPr sz="2000" dirty="0"/>
            </a:br>
            <a:r>
              <a:rPr sz="2000" dirty="0">
                <a:solidFill>
                  <a:srgbClr val="FF0000"/>
                </a:solidFill>
              </a:rPr>
              <a:t>• 100-tree ensemble</a:t>
            </a:r>
            <a:br>
              <a:rPr sz="2000" dirty="0">
                <a:solidFill>
                  <a:srgbClr val="FF0000"/>
                </a:solidFill>
              </a:rPr>
            </a:br>
            <a:r>
              <a:rPr sz="2000" dirty="0">
                <a:solidFill>
                  <a:srgbClr val="FF0000"/>
                </a:solidFill>
              </a:rPr>
              <a:t>• Trained on 3,415 samples</a:t>
            </a:r>
            <a:br>
              <a:rPr sz="2000" dirty="0">
                <a:solidFill>
                  <a:srgbClr val="FF0000"/>
                </a:solidFill>
              </a:rPr>
            </a:br>
            <a:r>
              <a:rPr sz="2000" dirty="0">
                <a:solidFill>
                  <a:srgbClr val="FF0000"/>
                </a:solidFill>
              </a:rPr>
              <a:t>• 97.89% Test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9600"/>
                </a:solidFill>
                <a:latin typeface="Arial"/>
              </a:defRPr>
            </a:pPr>
            <a:r>
              <a:rPr sz="2000"/>
              <a:t>PROJECT 1: LOAN APPROVAL PREDICTION SYSTEM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rPr sz="2000"/>
              <a:t>Business Recommendations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TIERED UNDERWRITING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Auto-approve &gt;= 80%  ·  Manual review 40–79%  ·  Auto-reject &lt; 40%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61488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CIBIL POLICY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Flag all applications with CIBIL &lt; 550 for enhanced credit due diligence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59935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COLLATERAL ENFORCEMENT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Require asset coverage ratio &gt; 1.25x for loan amounts above INR 10 million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58383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4E78"/>
                </a:solidFill>
              </a:defRPr>
            </a:pPr>
            <a:r>
              <a:rPr sz="2000"/>
              <a:t>MODEL GOVERNANCE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rPr sz="2000"/>
              <a:t>Quarterly retraining on new loan book data to prevent concept drift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558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 patel</cp:lastModifiedBy>
  <cp:revision>1</cp:revision>
  <dcterms:created xsi:type="dcterms:W3CDTF">2013-01-27T09:14:16Z</dcterms:created>
  <dcterms:modified xsi:type="dcterms:W3CDTF">2026-08-30T10:59:29Z</dcterms:modified>
  <cp:category/>
</cp:coreProperties>
</file>